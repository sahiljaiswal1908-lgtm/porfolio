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548640"/>
            <a:ext cx="2926080" cy="292608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2926080"/>
            <a:ext cx="2011680" cy="2011680"/>
          </a:xfrm>
          <a:prstGeom prst="ellipse">
            <a:avLst/>
          </a:prstGeom>
          <a:solidFill>
            <a:srgbClr val="C9A055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804672"/>
            <a:ext cx="100584" cy="100584"/>
          </a:xfrm>
          <a:prstGeom prst="ellipse">
            <a:avLst/>
          </a:prstGeom>
          <a:solidFill>
            <a:srgbClr val="C9A05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132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PORTFOLIO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30352" y="1024128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Sahil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530352" y="1847088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Jaiswal.</a:t>
            </a:r>
            <a:endParaRPr lang="en-US" sz="7000" dirty="0"/>
          </a:p>
        </p:txBody>
      </p:sp>
      <p:sp>
        <p:nvSpPr>
          <p:cNvPr id="10" name="Shape 8"/>
          <p:cNvSpPr/>
          <p:nvPr/>
        </p:nvSpPr>
        <p:spPr>
          <a:xfrm>
            <a:off x="530352" y="2852928"/>
            <a:ext cx="1371600" cy="36576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9718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Management  ·  Growth Marketing  ·  Consumer Insights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3493008"/>
            <a:ext cx="1481328" cy="256032"/>
          </a:xfrm>
          <a:prstGeom prst="rect">
            <a:avLst/>
          </a:prstGeom>
          <a:solidFill>
            <a:srgbClr val="1B4332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PGDM Student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30552" y="3493008"/>
            <a:ext cx="1481328" cy="256032"/>
          </a:xfrm>
          <a:prstGeom prst="rect">
            <a:avLst/>
          </a:prstGeom>
          <a:solidFill>
            <a:srgbClr val="1B4332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13055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Crucible Institute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0752" y="3493008"/>
            <a:ext cx="1481328" cy="256032"/>
          </a:xfrm>
          <a:prstGeom prst="rect">
            <a:avLst/>
          </a:prstGeom>
          <a:solidFill>
            <a:srgbClr val="1B4332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73075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Sahil Jaiswal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97880" y="1828800"/>
            <a:ext cx="1005840" cy="36576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0" name="Text 18"/>
          <p:cNvSpPr/>
          <p:nvPr/>
        </p:nvSpPr>
        <p:spPr>
          <a:xfrm>
            <a:off x="5897880" y="19659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sahiljaiswal1908@gmail.com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225856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+91 9321561338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7880" y="255117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5669280" cy="37033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4773168"/>
            <a:ext cx="164592" cy="370332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8097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Crucible Institute of Management  ·  PGDM  ·  Batch 2025–27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 am  ·  What I have done  ·  Where I am 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651760" cy="36576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265176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325880"/>
            <a:ext cx="2414016" cy="2377440"/>
          </a:xfrm>
          <a:prstGeom prst="rect">
            <a:avLst/>
          </a:prstGeom>
          <a:solidFill>
            <a:srgbClr val="F0EDE6"/>
          </a:solidFill>
          <a:ln w="12700">
            <a:solidFill>
              <a:srgbClr val="1B433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38912" y="1325880"/>
            <a:ext cx="24140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" y="3749040"/>
            <a:ext cx="2414016" cy="36576"/>
          </a:xfrm>
          <a:prstGeom prst="rect">
            <a:avLst/>
          </a:prstGeom>
          <a:solidFill>
            <a:srgbClr val="C9A055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840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J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3200400" y="1170432"/>
            <a:ext cx="5623560" cy="15544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70432"/>
            <a:ext cx="64008" cy="1554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289304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EXPERIENCE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01568" y="1609344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Operations</a:t>
            </a:r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SMJ Speed Logistic Solutions Pvt. Ltd.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 &amp; steel bulk transport — managed a 250-vehicle fleet, 80 drivers, 50+ accounting entries/day, reduced garage holding time by 2 days.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01568" y="2130552"/>
            <a:ext cx="5029200" cy="27432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2212848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Operator</a:t>
            </a:r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Clutch Point — PS5 Gaming Parlour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zero — customer acquisition, WhatsApp marketing, billing system. ~80 customers/week, ~30% repeat visit growth.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816352"/>
            <a:ext cx="5623560" cy="98755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816352"/>
            <a:ext cx="64008" cy="987552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29260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01568" y="321868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Graduate Diploma in Management (PGDM) — Crucible Institute of Management  ·  Ongoing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Commerce — University of Mumbai, Vidyavihar  ·  Completed Mar 2025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3895344"/>
            <a:ext cx="5623560" cy="84124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895344"/>
            <a:ext cx="64008" cy="84124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5" name="Text 23"/>
          <p:cNvSpPr/>
          <p:nvPr/>
        </p:nvSpPr>
        <p:spPr>
          <a:xfrm>
            <a:off x="3401568" y="399592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WORK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01568" y="4270248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enthusiast — gym is a non-negotiable part of my routine. Outside of that, films are my way to unwind — good storytelling across any genre.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INSIDE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64008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8872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700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education &amp; current 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70432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80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0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23560" y="12984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Experience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17007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Point  ·  SMJ Speed Logistic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0592"/>
            <a:ext cx="64008" cy="109728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279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188720" y="2578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Skills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9809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through doing, not classroom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5059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50592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560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0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623560" y="2578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Projects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23560" y="29809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 client &amp; field engagements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3075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30752"/>
            <a:ext cx="64008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40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188720" y="38587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Projects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2611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&amp; Term 2 — real briefs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3075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30752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40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0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623560" y="38587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23560" y="42611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 ·  Email  ·  Phone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EXPERIENCE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Clutch Point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 ·  PS5 Gaming Parlour  ·  Jan 2025 – Present  ·  Mumbai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0" y="274320"/>
            <a:ext cx="1508760" cy="411480"/>
          </a:xfrm>
          <a:prstGeom prst="rect">
            <a:avLst/>
          </a:prstGeom>
          <a:solidFill>
            <a:srgbClr val="1B4332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74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'25 – Now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36576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61872"/>
            <a:ext cx="3648456" cy="192024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61872"/>
            <a:ext cx="3648456" cy="1920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47472" y="3255264"/>
            <a:ext cx="1764792" cy="128016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3255264"/>
            <a:ext cx="1764792" cy="12801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12848" y="3255264"/>
            <a:ext cx="1764792" cy="128016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12848" y="3255264"/>
            <a:ext cx="1764792" cy="12801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040" y="4617720"/>
            <a:ext cx="3703320" cy="201168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6360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Point  ·  The Space  ·  Customers Gaming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251960" y="1170432"/>
            <a:ext cx="45720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51960" y="1170432"/>
            <a:ext cx="64008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7"/>
          <p:cNvSpPr/>
          <p:nvPr/>
        </p:nvSpPr>
        <p:spPr>
          <a:xfrm>
            <a:off x="4434840" y="130759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end-to-end daily operations of a PS5 gaming parlour serving ~80 customers/week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251960" y="2404872"/>
            <a:ext cx="45720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251960" y="2404872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5" name="Text 20"/>
          <p:cNvSpPr/>
          <p:nvPr/>
        </p:nvSpPr>
        <p:spPr>
          <a:xfrm>
            <a:off x="4434840" y="254203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the customer journey by curating a seamless booking and billing process for walk-in clients through gaming software, resulting in higher customer satisfaction and revenue growth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251960" y="3639312"/>
            <a:ext cx="45720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251960" y="3639312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8" name="Text 23"/>
          <p:cNvSpPr/>
          <p:nvPr/>
        </p:nvSpPr>
        <p:spPr>
          <a:xfrm>
            <a:off x="4434840" y="3776472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repeat customer visits by ~30% through optimized slot management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251960" y="4727448"/>
            <a:ext cx="4572000" cy="34747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0" name="Text 25"/>
          <p:cNvSpPr/>
          <p:nvPr/>
        </p:nvSpPr>
        <p:spPr>
          <a:xfrm>
            <a:off x="4343400" y="4754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 customers/week   ·   30% repeat visit growth   ·   Founder &amp; Operator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EXPERIENCE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SMJ Speed Logistic Solutions Pvt. Ltd.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Operations  ·  Cement &amp; Steel Bulk Transport  ·  Jun 2024 – Aug 2025  ·  Mumbai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0" y="274320"/>
            <a:ext cx="1508760" cy="411480"/>
          </a:xfrm>
          <a:prstGeom prst="rect">
            <a:avLst/>
          </a:prstGeom>
          <a:solidFill>
            <a:srgbClr val="C9A055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74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'24–Aug '25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36576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6400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325880"/>
            <a:ext cx="3465576" cy="2560320"/>
          </a:xfrm>
          <a:prstGeom prst="rect">
            <a:avLst/>
          </a:prstGeom>
          <a:solidFill>
            <a:srgbClr val="F0EDE6"/>
          </a:solidFill>
          <a:ln w="12700">
            <a:solidFill>
              <a:srgbClr val="C9A05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38912" y="1325880"/>
            <a:ext cx="34655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PHOTO /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" y="4005072"/>
            <a:ext cx="1645920" cy="713232"/>
          </a:xfrm>
          <a:prstGeom prst="rect">
            <a:avLst/>
          </a:prstGeom>
          <a:solidFill>
            <a:srgbClr val="F0EDE6"/>
          </a:solidFill>
          <a:ln w="12700">
            <a:solidFill>
              <a:srgbClr val="8A9A8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38912" y="40050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9424" y="4005072"/>
            <a:ext cx="1645920" cy="713232"/>
          </a:xfrm>
          <a:prstGeom prst="rect">
            <a:avLst/>
          </a:prstGeom>
          <a:solidFill>
            <a:srgbClr val="F0EDE6"/>
          </a:solidFill>
          <a:ln w="12700">
            <a:solidFill>
              <a:srgbClr val="8A9A8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249424" y="400507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1170432"/>
            <a:ext cx="4572000" cy="82296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51960" y="1170432"/>
            <a:ext cx="64008" cy="82296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1280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daily operations for 250-vehicle bulk logistics fleet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2084832"/>
            <a:ext cx="4572000" cy="82296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2084832"/>
            <a:ext cx="64008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21945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with 80 drivers and 10 vendors for dispatch, routing, and documentation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2999232"/>
            <a:ext cx="4572000" cy="82296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2999232"/>
            <a:ext cx="64008" cy="82296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31089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and verified 50+ accounting entries/day across trip sheets, fuel logs, and vendor payments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51960" y="3913632"/>
            <a:ext cx="4572000" cy="82296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3913632"/>
            <a:ext cx="64008" cy="82296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9" name="Text 27"/>
          <p:cNvSpPr/>
          <p:nvPr/>
        </p:nvSpPr>
        <p:spPr>
          <a:xfrm>
            <a:off x="4434840" y="40233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garage holding time by 2 days, improving fleet readiness and lowering downtime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51960" y="4727448"/>
            <a:ext cx="4572000" cy="34747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1" name="Text 29"/>
          <p:cNvSpPr/>
          <p:nvPr/>
        </p:nvSpPr>
        <p:spPr>
          <a:xfrm>
            <a:off x="4343400" y="4754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250-vehicle fleet   ·   80 drivers   ·   50+ entries/day   ·   2-day holding time reduction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 SKILLS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Developed through live projects, fieldwork &amp; business operations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114800" cy="17190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4114800" cy="640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 INSIGHTS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731520" cy="36576"/>
          </a:xfrm>
          <a:prstGeom prst="rect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Research  ·  Discussion Guides  ·  Consumer Interviews  ·  Quantitative Surveys  ·  Market Readiness Studies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4114800" cy="17190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70432"/>
            <a:ext cx="4114800" cy="6400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&amp; MARKETING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627632"/>
            <a:ext cx="731520" cy="36576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 ·  Brand Iceberg Framework  ·  Digital Campaigns  ·  Consumer Segmentation  ·  Brand Positioning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4114800" cy="17190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44952"/>
            <a:ext cx="4114800" cy="6400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ANALYTICS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502152"/>
            <a:ext cx="731520" cy="36576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 ·  DRHP Reading  ·  Advance Excel  ·  Data Tracking &amp; Interpretation  ·  Operations Audit  ·  Retail Field Research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44952"/>
            <a:ext cx="4114800" cy="17190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44952"/>
            <a:ext cx="4114800" cy="6400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27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502152"/>
            <a:ext cx="731520" cy="36576"/>
          </a:xfrm>
          <a:prstGeom prst="rect">
            <a:avLst/>
          </a:prstGeom>
          <a:solidFill>
            <a:srgbClr val="52796F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Magic Studio  ·  AI tools (Loveable, Antigravity, etc.)  ·  AI App Development  ·  Dashboard Build  ·  Digital Product Thinking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PROJECTS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A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live engagements  ·  real clients  ·  real outcomes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64008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61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1261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Snacks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609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Market Mapping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brand presence study across 150+ outlets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70432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70432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61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32120" y="1261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GrowFit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1609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Readiness Research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adoption barriers in the Mumbai market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32304"/>
            <a:ext cx="64008" cy="109728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2374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279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97280" y="25237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Athena Global Logistics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871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&amp; Systems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182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Sales-to-leadership communication gap resolved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52374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532120" y="25237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Ajwani Group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8712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Tender Intelligence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3182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tender monitoring replaced with AI dashboard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694176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94176"/>
            <a:ext cx="64008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7856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97280" y="3785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Vijay Sales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133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Immersion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443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floor-level retail operations study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694176"/>
            <a:ext cx="4114800" cy="109728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694176"/>
            <a:ext cx="64008" cy="109728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7856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0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5532120" y="378561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Uptrack App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4133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0" y="44439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design of AI attendance tracking system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01  ·  INDUSTRY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Snacks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Market Mapping  ·  Field Research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solidFill>
            <a:srgbClr val="1B4332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Researcher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283464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6400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325880"/>
            <a:ext cx="3465576" cy="2560320"/>
          </a:xfrm>
          <a:prstGeom prst="rect">
            <a:avLst/>
          </a:prstGeom>
          <a:solidFill>
            <a:srgbClr val="F0EDE6"/>
          </a:solidFill>
          <a:ln w="12700">
            <a:solidFill>
              <a:srgbClr val="1B433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38912" y="1645920"/>
            <a:ext cx="3465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" y="352044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 ·  Screenshot  ·  Dashboard  ·  Evidence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160520"/>
            <a:ext cx="1783080" cy="9144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4224528"/>
            <a:ext cx="1655064" cy="786384"/>
          </a:xfrm>
          <a:prstGeom prst="rect">
            <a:avLst/>
          </a:prstGeom>
          <a:solidFill>
            <a:srgbClr val="F0EDE6"/>
          </a:solidFill>
          <a:ln w="12700">
            <a:solidFill>
              <a:srgbClr val="8A9A8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84048" y="422452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67712" y="4160520"/>
            <a:ext cx="1783080" cy="9144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31720" y="4224528"/>
            <a:ext cx="1655064" cy="786384"/>
          </a:xfrm>
          <a:prstGeom prst="rect">
            <a:avLst/>
          </a:prstGeom>
          <a:solidFill>
            <a:srgbClr val="F0EDE6"/>
          </a:solidFill>
          <a:ln w="12700">
            <a:solidFill>
              <a:srgbClr val="8A9A8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331720" y="422452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1170432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170432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Beyond Snacks physical market presence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retail outlets to identify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gaps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shelf visibility issues, and expansion opportunities.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2432304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2432304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APPROACH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348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visited and audited 150+ retail outlets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recording product placement,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share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visibility score, and presence vs. absence data at each outlet systematically.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694176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3694176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a brand's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shelf presence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impacts consumer discovery. Learnt to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distribution patterns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identify white spaces, and translate field observations into structured brand insights.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4956048"/>
            <a:ext cx="4572000" cy="1828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4" name="Shape 32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Research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Outlets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Mapping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02  ·  INDUSTRY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GrowFit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Readiness Research  ·  Consumer Insights  ·  Mumbai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solidFill>
            <a:srgbClr val="C9A055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Researcher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283464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6400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" y="1325880"/>
            <a:ext cx="3465576" cy="2560320"/>
          </a:xfrm>
          <a:prstGeom prst="rect">
            <a:avLst/>
          </a:prstGeom>
          <a:solidFill>
            <a:srgbClr val="F0EDE6"/>
          </a:solidFill>
          <a:ln w="12700">
            <a:solidFill>
              <a:srgbClr val="C9A05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38912" y="1645920"/>
            <a:ext cx="3465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HERE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" y="352044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 ·  Screenshot  ·  Dashboard  ·  Evidence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160520"/>
            <a:ext cx="1783080" cy="9144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4224528"/>
            <a:ext cx="1655064" cy="786384"/>
          </a:xfrm>
          <a:prstGeom prst="rect">
            <a:avLst/>
          </a:prstGeom>
          <a:solidFill>
            <a:srgbClr val="F0EDE6"/>
          </a:solidFill>
          <a:ln w="12700">
            <a:solidFill>
              <a:srgbClr val="8A9A8E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84048" y="422452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67712" y="4160520"/>
            <a:ext cx="1783080" cy="914400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31720" y="4224528"/>
            <a:ext cx="1655064" cy="786384"/>
          </a:xfrm>
          <a:prstGeom prst="rect">
            <a:avLst/>
          </a:prstGeom>
          <a:solidFill>
            <a:srgbClr val="F0EDE6"/>
          </a:solidFill>
          <a:ln w="12700">
            <a:solidFill>
              <a:srgbClr val="8A9A8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331720" y="4224528"/>
            <a:ext cx="1655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Photo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1170432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170432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Mumbai's market readiness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GrowFit's product — understanding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appetite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adoption barriers, and competitive landscape before a potential expansion.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2432304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2432304"/>
            <a:ext cx="64008" cy="111556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APPROACH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348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a 50-response survey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combined with on-ground consumer interviews.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barriers to adoption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including reward opacity, delayed benefit perception, and app fatigue — using structured and open-ended methods.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694176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3694176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43484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how to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execute end-to-end consumer research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real business stakes. Understood the difference between surface-level responses and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motivations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uncovered through qualitative probing.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4956048"/>
            <a:ext cx="4572000" cy="1828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4" name="Shape 32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Research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Interviews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+ Quant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03  ·  INDUSTRY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Athena Global Logistics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 ·  Sales Systems  ·  Operations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solidFill>
            <a:srgbClr val="52796F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Lead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390448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54864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61872"/>
            <a:ext cx="1664208" cy="309067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61872"/>
            <a:ext cx="1664208" cy="30906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103120" y="1261872"/>
            <a:ext cx="1920240" cy="146304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03120" y="1261872"/>
            <a:ext cx="1920240" cy="14630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103120" y="2816352"/>
            <a:ext cx="1920240" cy="117043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03120" y="2816352"/>
            <a:ext cx="1920240" cy="11704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040" y="4663440"/>
            <a:ext cx="3703320" cy="22860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681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Log Visit  ·  Leadership Pipeline Heatmap  ·  Objections &amp; Competitor Signals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251960" y="1170432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51960" y="1170432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7"/>
          <p:cNvSpPr/>
          <p:nvPr/>
        </p:nvSpPr>
        <p:spPr>
          <a:xfrm>
            <a:off x="4434840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434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of communication breakdown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Athena's field sales team and head office — and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practical system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resolve it.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251960" y="2432304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251960" y="2432304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6" name="Text 21"/>
          <p:cNvSpPr/>
          <p:nvPr/>
        </p:nvSpPr>
        <p:spPr>
          <a:xfrm>
            <a:off x="44348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APPROACH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4348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immersed at Athena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conducting structured interviews with both frontline salespeople and pricing teams.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the broken workflow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co-designed a real-time field activity update system.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251960" y="3694176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251960" y="3694176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0" name="Text 25"/>
          <p:cNvSpPr/>
          <p:nvPr/>
        </p:nvSpPr>
        <p:spPr>
          <a:xfrm>
            <a:off x="443484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43484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to apply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as a structured problem-solving method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real business. Learnt that the best solutions come from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to both sides of a problem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designing anything.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251960" y="4956048"/>
            <a:ext cx="4572000" cy="1828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3" name="Shape 28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Immersion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Design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04  ·  INDUSTRY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Ajwani Group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Dashboard  ·  Construction Sector  ·  Business Development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solidFill>
            <a:srgbClr val="1B4332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390448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61872"/>
            <a:ext cx="3648456" cy="222199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61872"/>
            <a:ext cx="3648456" cy="22219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47472" y="3547872"/>
            <a:ext cx="1764792" cy="107899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3547872"/>
            <a:ext cx="1764792" cy="10789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12848" y="3547872"/>
            <a:ext cx="1764792" cy="107899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12848" y="3547872"/>
            <a:ext cx="1764792" cy="10789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040" y="4663440"/>
            <a:ext cx="3703320" cy="22860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681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Intelligence Dashboard  ·  Dashboard View  ·  Tender Detail  ·  Calendar View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251960" y="1170432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51960" y="1170432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7"/>
          <p:cNvSpPr/>
          <p:nvPr/>
        </p:nvSpPr>
        <p:spPr>
          <a:xfrm>
            <a:off x="4434840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434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monitoring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government portals for construction tender releases — ensuring no opportunity is missed due to human error or bandwidth constraints.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251960" y="2432304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251960" y="2432304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6" name="Text 21"/>
          <p:cNvSpPr/>
          <p:nvPr/>
        </p:nvSpPr>
        <p:spPr>
          <a:xfrm>
            <a:off x="44348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APPROACH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4348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Conceptualised and built an AI-integrated dashboard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automatically captures, filters, and surfaces relevant government tender releases in real time — removing the need for daily manual checks.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251960" y="3694176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251960" y="3694176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0" name="Text 25"/>
          <p:cNvSpPr/>
          <p:nvPr/>
        </p:nvSpPr>
        <p:spPr>
          <a:xfrm>
            <a:off x="443484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43484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how to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 real operational pain point into a product solution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Understood how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be applied practically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traditional business — not just in tech companies.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251960" y="4956048"/>
            <a:ext cx="4572000" cy="1828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3" name="Shape 28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solidFill>
            <a:srgbClr val="1B4332">
              <a:alpha val="20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05  ·  INDUSTRY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Vijay Sales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Immersion  ·  Large-Format Retail  ·  8-Day Study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solidFill>
            <a:srgbClr val="C9A055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390448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261872"/>
            <a:ext cx="2148840" cy="309067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61872"/>
            <a:ext cx="2148840" cy="30906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606040" y="1261872"/>
            <a:ext cx="1371600" cy="1481328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06040" y="1261872"/>
            <a:ext cx="1371600" cy="14813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06040" y="2871216"/>
            <a:ext cx="1371600" cy="1481328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06040" y="2871216"/>
            <a:ext cx="1371600" cy="14813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040" y="4663440"/>
            <a:ext cx="3703320" cy="22860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681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Visuals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251960" y="1170432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51960" y="1170432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7"/>
          <p:cNvSpPr/>
          <p:nvPr/>
        </p:nvSpPr>
        <p:spPr>
          <a:xfrm>
            <a:off x="4434840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434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ground-level understanding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large-format retail operations — covering inventory, staffing, customer handling, and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floor execution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a high-volume campaign.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251960" y="2432304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251960" y="2432304"/>
            <a:ext cx="64008" cy="111556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26" name="Text 21"/>
          <p:cNvSpPr/>
          <p:nvPr/>
        </p:nvSpPr>
        <p:spPr>
          <a:xfrm>
            <a:off x="44348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APPROACH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4348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consecutive days on the floor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alongside a senior sales executive — observing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decision triggers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customer behaviour patterns, billing workflows, and day-to-day operational coordination.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251960" y="3694176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251960" y="3694176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0" name="Text 25"/>
          <p:cNvSpPr/>
          <p:nvPr/>
        </p:nvSpPr>
        <p:spPr>
          <a:xfrm>
            <a:off x="443484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43484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decisions are made at the floor level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versus what is planned strategically. Developed an eye for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 in high-footfall environments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what separates effective retail execution.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251960" y="4956048"/>
            <a:ext cx="4572000" cy="1828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3" name="Shape 28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Ops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Immersion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Behaviour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solidFill>
            <a:srgbClr val="C9A055">
              <a:alpha val="20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Floor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06  ·  INDUSTRY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32918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Uptrack — Attendance App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  ·  App Development  ·  EdTech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solidFill>
            <a:srgbClr val="52796F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74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3703320" cy="390448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70432"/>
            <a:ext cx="3703320" cy="54864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61872"/>
            <a:ext cx="3648456" cy="222199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261872"/>
            <a:ext cx="3648456" cy="22219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47472" y="3547872"/>
            <a:ext cx="1764792" cy="107899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3547872"/>
            <a:ext cx="1764792" cy="10789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12848" y="3547872"/>
            <a:ext cx="1764792" cy="1078992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12848" y="3547872"/>
            <a:ext cx="1764792" cy="107899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040" y="4663440"/>
            <a:ext cx="3703320" cy="22860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9" name="Text 14"/>
          <p:cNvSpPr/>
          <p:nvPr/>
        </p:nvSpPr>
        <p:spPr>
          <a:xfrm>
            <a:off x="365760" y="4681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 ·  Faculty Live Session  ·  Student Analytics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251960" y="1170432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51960" y="1170432"/>
            <a:ext cx="64008" cy="11155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17"/>
          <p:cNvSpPr/>
          <p:nvPr/>
        </p:nvSpPr>
        <p:spPr>
          <a:xfrm>
            <a:off x="4434840" y="12618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OBJECTIVE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4348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mobile and web-based attendance tracking system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eliminates friction, reduces proxy, and automates a process that is currently manual and unreliable.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251960" y="2432304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251960" y="2432304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6" name="Text 21"/>
          <p:cNvSpPr/>
          <p:nvPr/>
        </p:nvSpPr>
        <p:spPr>
          <a:xfrm>
            <a:off x="4434840" y="25237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APPROACH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434840" y="2816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user journeys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both students and faculty, structured the platform logic, identified core features, and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user needs into practical interface design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251960" y="3694176"/>
            <a:ext cx="4572000" cy="11155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251960" y="3694176"/>
            <a:ext cx="64008" cy="11155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0" name="Text 25"/>
          <p:cNvSpPr/>
          <p:nvPr/>
        </p:nvSpPr>
        <p:spPr>
          <a:xfrm>
            <a:off x="4434840" y="37856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434840" y="40782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how to think like a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starting from user pain, moving through problem definition, arriving at a structured feature set. Understood </a:t>
            </a:r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thinking</a:t>
            </a:r>
            <a:pPr indent="0" marL="0">
              <a:buNone/>
            </a:pPr>
            <a:r>
              <a:rPr lang="en-US" sz="10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balancing user needs against constraints.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251960" y="4956048"/>
            <a:ext cx="4572000" cy="18288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3" name="Shape 28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343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486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700" dirty="0"/>
          </a:p>
        </p:txBody>
      </p:sp>
      <p:sp>
        <p:nvSpPr>
          <p:cNvPr id="37" name="Shape 32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629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Design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solidFill>
            <a:srgbClr val="52796F">
              <a:alpha val="20000"/>
            </a:srgbClr>
          </a:solidFill>
          <a:ln/>
        </p:spPr>
      </p:sp>
      <p:sp>
        <p:nvSpPr>
          <p:cNvPr id="40" name="Text 35"/>
          <p:cNvSpPr/>
          <p:nvPr/>
        </p:nvSpPr>
        <p:spPr>
          <a:xfrm>
            <a:off x="7772400" y="497433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2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PROJECTS  ·  TERM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201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  ·  7 Courses  ·  180 Sessions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42416"/>
            <a:ext cx="64008" cy="12618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BUSINESS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Garage Business Audit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3474720" cy="27432"/>
          </a:xfrm>
          <a:prstGeom prst="rect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824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to look at a business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holistically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mapping functions, revenue model, and growth stage. First real exposure to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thinking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424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42416"/>
            <a:ext cx="64008" cy="1261872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BUSINESS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37760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₹1,000 Venture Sprint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618488"/>
            <a:ext cx="3474720" cy="27432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824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that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under constraint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skill. Speed,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mindset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scrappiness matter more than perfect planning when resources are limited.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140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14016"/>
            <a:ext cx="64008" cy="1261872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BEHAVIOUR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Decision Field Study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990088"/>
            <a:ext cx="3474720" cy="27432"/>
          </a:xfrm>
          <a:prstGeom prst="rect">
            <a:avLst/>
          </a:prstGeom>
          <a:solidFill>
            <a:srgbClr val="52796F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54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that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consumer behaviour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observed in the field is more valuable than any survey. Developed the habit of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before concluding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14016"/>
            <a:ext cx="64008" cy="12618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DATA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3776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Performance Analytics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990088"/>
            <a:ext cx="3474720" cy="27432"/>
          </a:xfrm>
          <a:prstGeom prst="rect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054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to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clean, and interpret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self-generated data. Understood that data without context is meaningless —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only make sense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you know what caused them.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7856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785616"/>
            <a:ext cx="64008" cy="1261872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OF FINANCE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DRHP Deep Dive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361688"/>
            <a:ext cx="3474720" cy="27432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4256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to read a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document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a business story. Built foundational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understanding what a company discloses and why.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7856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785616"/>
            <a:ext cx="64008" cy="1261872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MANAGERIAL COMM.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3776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Situational Role Plays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4361688"/>
            <a:ext cx="3474720" cy="27432"/>
          </a:xfrm>
          <a:prstGeom prst="rect">
            <a:avLst/>
          </a:prstGeom>
          <a:solidFill>
            <a:srgbClr val="52796F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4256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that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is situational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same message lands differently depending on tone, framing, and audience. Developed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 under pressure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PROJECTS  ·  TERM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201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– Nov  ·  7 Courses  ·  175 Sessions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42416"/>
            <a:ext cx="64008" cy="12618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INSIGHTS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Protein — Qualitative Study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3474720" cy="27432"/>
          </a:xfrm>
          <a:prstGeom prst="rect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824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to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research instrument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scratch and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consumer interviews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leading the respondent. The real insight is always one layer below the first answer.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424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42416"/>
            <a:ext cx="64008" cy="1261872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24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INSIGHTS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37760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 Behaviour Study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618488"/>
            <a:ext cx="3474720" cy="27432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6824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that consumer decisions are driven by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 and social context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much as product. Understood the difference between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needs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motivations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140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14016"/>
            <a:ext cx="64008" cy="1261872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SEGMENTATION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Multi-Brand Segmentation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990088"/>
            <a:ext cx="3474720" cy="27432"/>
          </a:xfrm>
          <a:prstGeom prst="rect">
            <a:avLst/>
          </a:prstGeom>
          <a:solidFill>
            <a:srgbClr val="52796F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54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that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just demographics — it is about how different people relate to the same product differently. Understood how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shifts positioning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14016"/>
            <a:ext cx="64008" cy="12618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MANAGEMENT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37760" y="2715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Clutch Point — Brand Iceberg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990088"/>
            <a:ext cx="3474720" cy="27432"/>
          </a:xfrm>
          <a:prstGeom prst="rect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054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that a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is far more than its logo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values, beliefs, and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promise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underneath the visible layer are what actually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loyalty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7856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785616"/>
            <a:ext cx="64008" cy="1261872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Campaign — Crucible Institute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361688"/>
            <a:ext cx="3474720" cy="27432"/>
          </a:xfrm>
          <a:prstGeom prst="rect">
            <a:avLst/>
          </a:prstGeom>
          <a:solidFill>
            <a:srgbClr val="C9A055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4256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what it takes to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real campaign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 to end — from setting an objective to measuring what worked. Understood the gap between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live execution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785616"/>
            <a:ext cx="4114800" cy="1261872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785616"/>
            <a:ext cx="64008" cy="1261872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8679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279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MANAGEMENT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3776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Swiggy Instamart Dark Store Study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0" y="4361688"/>
            <a:ext cx="3474720" cy="27432"/>
          </a:xfrm>
          <a:prstGeom prst="rect">
            <a:avLst/>
          </a:prstGeom>
          <a:solidFill>
            <a:srgbClr val="52796F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4256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how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 from the inside. Understood that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direct output of </a:t>
            </a:r>
            <a:pPr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operational decisions</a:t>
            </a:r>
            <a:pPr indent="0" marL="0">
              <a:buNone/>
            </a:pPr>
            <a:r>
              <a:rPr lang="en-US" sz="90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3474720" cy="3474720"/>
          </a:xfrm>
          <a:prstGeom prst="ellipse">
            <a:avLst/>
          </a:prstGeom>
          <a:solidFill>
            <a:srgbClr val="1B4332">
              <a:alpha val="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-731520"/>
            <a:ext cx="2926080" cy="2926080"/>
          </a:xfrm>
          <a:prstGeom prst="ellipse">
            <a:avLst/>
          </a:prstGeom>
          <a:solidFill>
            <a:srgbClr val="C9A055">
              <a:alpha val="9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1B4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280160" cy="54864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0156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Management  ·  Growth Marketing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4A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D2C Startups  ·  Youth Consumer Brands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sahiljaiswal1908@gmail.com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+91 9321561338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005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OUT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1371600"/>
            <a:ext cx="3291840" cy="45720"/>
          </a:xfrm>
          <a:prstGeom prst="rect">
            <a:avLst/>
          </a:prstGeom>
          <a:solidFill>
            <a:srgbClr val="E8E4D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0" y="1554480"/>
            <a:ext cx="3291840" cy="6583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554480"/>
            <a:ext cx="64008" cy="65836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6093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9280" y="1865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sahiljaiswal1908@gmail.com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304288"/>
            <a:ext cx="3291840" cy="6583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304288"/>
            <a:ext cx="64008" cy="658368"/>
          </a:xfrm>
          <a:prstGeom prst="rect">
            <a:avLst/>
          </a:prstGeom>
          <a:solidFill>
            <a:srgbClr val="C9A05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3591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9280" y="26151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+91 9321561338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3054096"/>
            <a:ext cx="3291840" cy="6583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3054096"/>
            <a:ext cx="64008" cy="658368"/>
          </a:xfrm>
          <a:prstGeom prst="rect">
            <a:avLst/>
          </a:prstGeom>
          <a:solidFill>
            <a:srgbClr val="52796F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31089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27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669280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linkedin.com/in/sahiljaiswal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3803904"/>
            <a:ext cx="3291840" cy="658368"/>
          </a:xfrm>
          <a:prstGeom prst="rect">
            <a:avLst/>
          </a:prstGeom>
          <a:solidFill>
            <a:srgbClr val="E8E4DC"/>
          </a:solidFill>
          <a:ln/>
          <a:effectLst>
            <a:outerShdw sx="100000" sy="100000" kx="0" ky="0" algn="bl" rotWithShape="0" blurRad="101600" dist="25400" dir="8100000">
              <a:srgbClr val="1B433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3803904"/>
            <a:ext cx="64008" cy="658368"/>
          </a:xfrm>
          <a:prstGeom prst="rect">
            <a:avLst/>
          </a:prstGeom>
          <a:solidFill>
            <a:srgbClr val="8A9A8E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858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A9A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66928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India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4809744"/>
            <a:ext cx="4114800" cy="333756"/>
          </a:xfrm>
          <a:prstGeom prst="rect">
            <a:avLst/>
          </a:prstGeom>
          <a:solidFill>
            <a:srgbClr val="0E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4837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9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Hungry to build. Ready to contribute.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Portfolio - Sahil Jaiswal</dc:title>
  <dc:subject>PptxGenJS Presentation</dc:subject>
  <dc:creator>Sahil Jaiswal</dc:creator>
  <cp:lastModifiedBy>Sahil Jaiswal</cp:lastModifiedBy>
  <cp:revision>1</cp:revision>
  <dcterms:created xsi:type="dcterms:W3CDTF">2026-03-31T03:28:25Z</dcterms:created>
  <dcterms:modified xsi:type="dcterms:W3CDTF">2026-03-31T03:28:25Z</dcterms:modified>
</cp:coreProperties>
</file>